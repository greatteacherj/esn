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  <p:sldId id="271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0" d="100"/>
          <a:sy n="110" d="100"/>
        </p:scale>
        <p:origin x="59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rPr lang="fr-FR" noProof="0" dirty="0"/>
              <a:t>Prédire l’attrition des employés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B4C8D2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B4C8D2"/>
                </a:solidFill>
                <a:latin typeface="Aptos"/>
              </a:defRPr>
            </a:pPr>
            <a:r>
              <a:rPr lang="fr-FR" noProof="0" dirty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6583680" cy="10058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rPr lang="fr-FR" noProof="0" dirty="0"/>
              <a:t>Transformer les signaux RH en actions de prévention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594360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800" b="0">
                <a:solidFill>
                  <a:srgbClr val="CDE1E8"/>
                </a:solidFill>
                <a:latin typeface="Aptos"/>
              </a:defRPr>
            </a:pPr>
            <a:r>
              <a:rPr lang="fr-FR" noProof="0" dirty="0"/>
              <a:t>De la donnée multi-source à une explication exploitable par les RH</a:t>
            </a:r>
          </a:p>
        </p:txBody>
      </p:sp>
      <p:sp>
        <p:nvSpPr>
          <p:cNvPr id="7" name="Oval 6"/>
          <p:cNvSpPr/>
          <p:nvPr/>
        </p:nvSpPr>
        <p:spPr>
          <a:xfrm>
            <a:off x="8412480" y="1371600"/>
            <a:ext cx="2377440" cy="2377440"/>
          </a:xfrm>
          <a:prstGeom prst="ellipse">
            <a:avLst/>
          </a:prstGeom>
          <a:solidFill>
            <a:srgbClr val="F28E6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686800" y="1965960"/>
            <a:ext cx="1828800" cy="9144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rPr lang="fr-FR" noProof="0" dirty="0"/>
              <a:t>ATTRITION</a:t>
            </a:r>
            <a:br>
              <a:rPr lang="fr-FR" noProof="0" dirty="0"/>
            </a:br>
            <a:r>
              <a:rPr lang="fr-FR" noProof="0" dirty="0"/>
              <a:t>&amp;</a:t>
            </a:r>
            <a:br>
              <a:rPr lang="fr-FR" noProof="0" dirty="0"/>
            </a:br>
            <a:r>
              <a:rPr lang="fr-FR" noProof="0" dirty="0"/>
              <a:t>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Une vue employé construite à partir de 3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212080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Données SIRH : profil, poste, rémunération et ancienneté</a:t>
            </a:r>
          </a:p>
          <a:p>
            <a:pPr>
              <a:spcAft>
                <a:spcPts val="11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Évaluations : signaux de performance et d’évolution</a:t>
            </a:r>
          </a:p>
          <a:p>
            <a:pPr>
              <a:spcAft>
                <a:spcPts val="11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Sondage : satisfaction, mobilité et intention de départ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75488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0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Rapprochement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103120"/>
            <a:ext cx="1874519" cy="640080"/>
          </a:xfrm>
          <a:prstGeom prst="round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583679" y="2267712"/>
            <a:ext cx="169164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lang="fr-FR" noProof="0" dirty="0"/>
              <a:t>SIRH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103120"/>
            <a:ext cx="1874519" cy="640080"/>
          </a:xfrm>
          <a:prstGeom prst="roundRect">
            <a:avLst/>
          </a:prstGeom>
          <a:solidFill>
            <a:srgbClr val="6DB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869680" y="2267712"/>
            <a:ext cx="169164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lang="fr-FR" noProof="0" dirty="0"/>
              <a:t>Évaluations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3337560"/>
            <a:ext cx="1874519" cy="640080"/>
          </a:xfrm>
          <a:prstGeom prst="roundRect">
            <a:avLst/>
          </a:prstGeom>
          <a:solidFill>
            <a:srgbClr val="F28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583679" y="3502152"/>
            <a:ext cx="169164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rPr lang="fr-FR" noProof="0" dirty="0"/>
              <a:t>Sondage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54880"/>
            <a:ext cx="4572000" cy="80329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1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Clé : </a:t>
            </a:r>
            <a:r>
              <a:rPr lang="fr-FR" noProof="0" dirty="0" err="1"/>
              <a:t>id_employee</a:t>
            </a:r>
            <a:r>
              <a:rPr lang="fr-FR" noProof="0" dirty="0"/>
              <a:t>, </a:t>
            </a:r>
            <a:r>
              <a:rPr lang="fr-FR" sz="1600" noProof="0" dirty="0" err="1">
                <a:solidFill>
                  <a:srgbClr val="23303A"/>
                </a:solidFill>
                <a:latin typeface="Aptos"/>
              </a:rPr>
              <a:t>eval_number</a:t>
            </a:r>
            <a:r>
              <a:rPr lang="fr-FR" sz="1600" noProof="0" dirty="0">
                <a:solidFill>
                  <a:srgbClr val="23303A"/>
                </a:solidFill>
                <a:latin typeface="Aptos"/>
              </a:rPr>
              <a:t>, </a:t>
            </a:r>
            <a:r>
              <a:rPr lang="fr-FR" sz="1600" noProof="0" dirty="0" err="1">
                <a:solidFill>
                  <a:srgbClr val="23303A"/>
                </a:solidFill>
                <a:latin typeface="Aptos"/>
              </a:rPr>
              <a:t>code_sondage</a:t>
            </a:r>
            <a:endParaRPr lang="fr-FR" sz="1600" noProof="0" dirty="0">
              <a:solidFill>
                <a:srgbClr val="23303A"/>
              </a:solidFill>
              <a:latin typeface="Aptos"/>
            </a:endParaRPr>
          </a:p>
          <a:p>
            <a:pPr>
              <a:defRPr sz="1600" b="1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1470 lignes</a:t>
            </a:r>
            <a:r>
              <a:rPr lang="fr-FR" sz="1600" noProof="0" dirty="0">
                <a:solidFill>
                  <a:srgbClr val="23303A"/>
                </a:solidFill>
                <a:latin typeface="Aptos"/>
              </a:rPr>
              <a:t> </a:t>
            </a:r>
            <a:br>
              <a:rPr lang="fr-FR" noProof="0" dirty="0"/>
            </a:br>
            <a:r>
              <a:rPr lang="fr-FR" noProof="0" dirty="0"/>
              <a:t>Granularité : 1 ligne = 1 employé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Préparer la donnée sans perdre le sens métier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577840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Suppression de variables constantes ou non informatives</a:t>
            </a:r>
          </a:p>
          <a:p>
            <a:pPr>
              <a:spcAft>
                <a:spcPts val="1100"/>
              </a:spcAft>
              <a:defRPr sz="160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Encodage binaire de variables qualitatives (ex. genre, heures supplémentaires, cible)</a:t>
            </a:r>
          </a:p>
          <a:p>
            <a:pPr>
              <a:spcAft>
                <a:spcPts val="1100"/>
              </a:spcAft>
              <a:defRPr sz="1600">
                <a:solidFill>
                  <a:srgbClr val="23303A"/>
                </a:solidFill>
                <a:latin typeface="Aptos"/>
              </a:defRPr>
            </a:pPr>
            <a:r>
              <a:rPr lang="fr-FR" noProof="0" dirty="0" err="1"/>
              <a:t>One-hot</a:t>
            </a:r>
            <a:r>
              <a:rPr lang="fr-FR" noProof="0" dirty="0"/>
              <a:t> </a:t>
            </a:r>
            <a:r>
              <a:rPr lang="fr-FR" noProof="0" dirty="0" err="1"/>
              <a:t>encoding</a:t>
            </a:r>
            <a:r>
              <a:rPr lang="fr-FR" noProof="0" dirty="0"/>
              <a:t> des catégories ; </a:t>
            </a:r>
            <a:r>
              <a:rPr lang="fr-FR" noProof="0" dirty="0" err="1"/>
              <a:t>scaling</a:t>
            </a:r>
            <a:r>
              <a:rPr lang="fr-FR" noProof="0" dirty="0"/>
              <a:t> pour la régression logistique</a:t>
            </a:r>
          </a:p>
          <a:p>
            <a:pPr>
              <a:spcAft>
                <a:spcPts val="1100"/>
              </a:spcAft>
              <a:defRPr sz="160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Traitement des distributions asymétriques par log1p</a:t>
            </a:r>
          </a:p>
          <a:p>
            <a:pPr>
              <a:spcAft>
                <a:spcPts val="1100"/>
              </a:spcAft>
              <a:defRPr sz="160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Contrôle des redondances via corrélation de Pearson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17320"/>
            <a:ext cx="4389120" cy="3474720"/>
          </a:xfrm>
          <a:prstGeom prst="roundRect">
            <a:avLst/>
          </a:prstGeom>
          <a:solidFill>
            <a:srgbClr val="E6F0F4"/>
          </a:solidFill>
          <a:ln>
            <a:solidFill>
              <a:srgbClr val="6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737360"/>
            <a:ext cx="3749039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9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Point de vigilance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423160"/>
            <a:ext cx="3657600" cy="1554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Le départ est observé (Oui/Non), mais la nature de la rupture n’est pas distinguée : démission, licenciement ou rupture conventionnelle.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B28F83C1-34BC-8589-EABB-F3D0608C22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144" t="-24865" b="-24865"/>
          <a:stretch>
            <a:fillRect/>
          </a:stretch>
        </p:blipFill>
        <p:spPr>
          <a:xfrm>
            <a:off x="0" y="-938829"/>
            <a:ext cx="9690755" cy="873565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L’attrition est minoritaire : le problème est déséquilibré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69843" y="2834640"/>
            <a:ext cx="475488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4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237 départs sur 1 470 employés</a:t>
            </a:r>
            <a:br>
              <a:rPr lang="fr-FR" noProof="0" dirty="0"/>
            </a:br>
            <a:r>
              <a:rPr lang="fr-FR" noProof="0" dirty="0"/>
              <a:t>≈ 16,1 % de la 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9843" y="3769779"/>
            <a:ext cx="4572000" cy="10972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7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Conséquence : l’</a:t>
            </a:r>
            <a:r>
              <a:rPr lang="fr-FR" noProof="0" dirty="0" err="1"/>
              <a:t>accuracy</a:t>
            </a:r>
            <a:r>
              <a:rPr lang="fr-FR" noProof="0" dirty="0"/>
              <a:t> seule serait trompeuse. Le </a:t>
            </a:r>
            <a:r>
              <a:rPr lang="fr-FR" noProof="0" dirty="0" err="1"/>
              <a:t>recall</a:t>
            </a:r>
            <a:r>
              <a:rPr lang="fr-FR" noProof="0" dirty="0"/>
              <a:t> et la </a:t>
            </a:r>
            <a:r>
              <a:rPr lang="fr-FR" noProof="0" dirty="0" err="1"/>
              <a:t>balanced</a:t>
            </a:r>
            <a:r>
              <a:rPr lang="fr-FR" noProof="0" dirty="0"/>
              <a:t> </a:t>
            </a:r>
            <a:r>
              <a:rPr lang="fr-FR" noProof="0" dirty="0" err="1"/>
              <a:t>accuracy</a:t>
            </a:r>
            <a:r>
              <a:rPr lang="fr-FR" noProof="0" dirty="0"/>
              <a:t> deviennent des repères prioritaires.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Les variables d’ancienneté et de niveau se recouvrent fortement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5</a:t>
            </a:r>
          </a:p>
        </p:txBody>
      </p:sp>
      <p:pic>
        <p:nvPicPr>
          <p:cNvPr id="5" name="Picture 4" descr="corr.pn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5181" y="960119"/>
            <a:ext cx="7608659" cy="52785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59749" y="1283699"/>
            <a:ext cx="4508205" cy="1634294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7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Corrélations fortes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  <a:defRPr sz="17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niveau hiérarchique ↔ revenu : 0,95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  <a:defRPr sz="17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poste actuel ↔ ancienneté : 0,76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 b="1">
                <a:solidFill>
                  <a:srgbClr val="123B5D"/>
                </a:solidFill>
                <a:latin typeface="Aptos"/>
              </a:defRPr>
            </a:pPr>
            <a:r>
              <a:rPr lang="fr-FR" sz="1700" dirty="0">
                <a:solidFill>
                  <a:srgbClr val="123B5D"/>
                </a:solidFill>
                <a:latin typeface="Aptos"/>
              </a:rPr>
              <a:t>Temps s/ responsable </a:t>
            </a:r>
            <a:r>
              <a:rPr lang="fr-FR" dirty="0"/>
              <a:t>↔</a:t>
            </a:r>
            <a:r>
              <a:rPr lang="fr-FR" sz="1700" dirty="0">
                <a:solidFill>
                  <a:srgbClr val="123B5D"/>
                </a:solidFill>
                <a:latin typeface="Aptos"/>
              </a:rPr>
              <a:t> ancienneté: 0.77 </a:t>
            </a:r>
          </a:p>
          <a:p>
            <a:pPr marL="285750" indent="-285750">
              <a:buFont typeface="Arial" panose="020B0604020202020204" pitchFamily="34" charset="0"/>
              <a:buChar char="•"/>
              <a:defRPr sz="1700" b="1">
                <a:solidFill>
                  <a:srgbClr val="123B5D"/>
                </a:solidFill>
                <a:latin typeface="Aptos"/>
              </a:defRPr>
            </a:pPr>
            <a:r>
              <a:rPr lang="fr-FR" sz="1700" dirty="0">
                <a:solidFill>
                  <a:srgbClr val="123B5D"/>
                </a:solidFill>
                <a:latin typeface="Aptos"/>
              </a:rPr>
              <a:t>Temps s/ responsable </a:t>
            </a:r>
            <a:r>
              <a:rPr lang="fr-FR" dirty="0"/>
              <a:t>↔ </a:t>
            </a:r>
          </a:p>
          <a:p>
            <a:pPr>
              <a:defRPr sz="1700" b="1">
                <a:solidFill>
                  <a:srgbClr val="123B5D"/>
                </a:solidFill>
                <a:latin typeface="Aptos"/>
              </a:defRPr>
            </a:pPr>
            <a:r>
              <a:rPr lang="fr-FR" sz="1700" dirty="0">
                <a:solidFill>
                  <a:srgbClr val="123B5D"/>
                </a:solidFill>
                <a:latin typeface="Aptos"/>
              </a:rPr>
              <a:t>	ancienneté du poste: 0.71</a:t>
            </a:r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138160" y="3337560"/>
            <a:ext cx="3200400" cy="10972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À surveiller : redondance des signaux et interprétation des variables proches.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Les échelles de satisfaction différencient les deux populations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11065" y="1325880"/>
            <a:ext cx="4018935" cy="104951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Lecture EDA</a:t>
            </a:r>
            <a:br>
              <a:rPr lang="fr-FR" noProof="0" dirty="0"/>
            </a:br>
            <a:r>
              <a:rPr lang="fr-FR" noProof="0" dirty="0"/>
              <a:t>Les distributions ordinales permettent de comparer les profils “Départ” et “restés”, sans confondre effectifs et proportions.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6B45D11C-4711-646F-1EE7-2570381DC81A}"/>
              </a:ext>
            </a:extLst>
          </p:cNvPr>
          <p:cNvSpPr txBox="1"/>
          <p:nvPr/>
        </p:nvSpPr>
        <p:spPr>
          <a:xfrm>
            <a:off x="7411064" y="2399279"/>
            <a:ext cx="4018935" cy="104951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dirty="0"/>
              <a:t>Différence significatif observée :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Satisfaction environnement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dirty="0"/>
              <a:t>Niveau hiérarchique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dirty="0"/>
              <a:t>Participation PEE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24F8B74-AF63-3B2D-2869-D8E3666540A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1055" y="833284"/>
            <a:ext cx="6901016" cy="5915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Le groupe parti présente un profil moyen distinct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1325880"/>
            <a:ext cx="3394166" cy="2034403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Les différences les plus notable sont :</a:t>
            </a:r>
          </a:p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Revenu mensuel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dirty="0"/>
              <a:t>Participation </a:t>
            </a:r>
            <a:r>
              <a:rPr lang="fr-FR" dirty="0" err="1"/>
              <a:t>pee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dirty="0"/>
              <a:t>Années sous responsable</a:t>
            </a:r>
          </a:p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endParaRPr lang="fr-FR" noProof="0" dirty="0"/>
          </a:p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dirty="0"/>
              <a:t>La plus importante étant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Heures supplémentaires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1D2F9FC-29CA-2456-FDBB-B833BFDCE2C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1074" y="853440"/>
            <a:ext cx="7676605" cy="562051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55670B6-5390-9382-10C7-983FD2A5450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3133"/>
          <a:stretch>
            <a:fillRect/>
          </a:stretch>
        </p:blipFill>
        <p:spPr>
          <a:xfrm>
            <a:off x="8166209" y="3663696"/>
            <a:ext cx="3830971" cy="26674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Comparer les générations limite le risque de surinterprétation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57360" y="1223203"/>
            <a:ext cx="2834640" cy="2560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Méthode</a:t>
            </a:r>
            <a:br>
              <a:rPr lang="fr-FR" noProof="0" dirty="0"/>
            </a:br>
            <a:r>
              <a:rPr lang="fr-FR" noProof="0" dirty="0"/>
              <a:t>5-fold stratifié, plusieurs modèles et plusieurs générations de </a:t>
            </a:r>
            <a:r>
              <a:rPr lang="fr-FR" noProof="0" dirty="0" err="1"/>
              <a:t>features</a:t>
            </a:r>
            <a:r>
              <a:rPr lang="fr-FR" noProof="0" dirty="0"/>
              <a:t>.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Le notebook retient </a:t>
            </a:r>
            <a:r>
              <a:rPr lang="fr-FR" noProof="0" dirty="0" err="1"/>
              <a:t>XGBoost</a:t>
            </a:r>
            <a:r>
              <a:rPr lang="fr-FR" noProof="0" dirty="0"/>
              <a:t> génération 6 pour le compromis entre </a:t>
            </a:r>
            <a:r>
              <a:rPr lang="fr-FR" noProof="0" dirty="0" err="1"/>
              <a:t>recall</a:t>
            </a:r>
            <a:r>
              <a:rPr lang="fr-FR" noProof="0" dirty="0"/>
              <a:t> et précision.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ADE00C2-5DB9-359D-5FF9-74461EC8346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-1844" b="34643"/>
          <a:stretch>
            <a:fillRect/>
          </a:stretch>
        </p:blipFill>
        <p:spPr>
          <a:xfrm>
            <a:off x="0" y="601579"/>
            <a:ext cx="9478909" cy="573288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A2D9ECC0-578B-7897-24D3-96C2A65ECD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292"/>
          <a:stretch>
            <a:fillRect/>
          </a:stretch>
        </p:blipFill>
        <p:spPr>
          <a:xfrm>
            <a:off x="8238113" y="3546058"/>
            <a:ext cx="3839240" cy="27884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Le seuil de décision règle le compromis “détecter / alerter”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9</a:t>
            </a:r>
          </a:p>
        </p:txBody>
      </p:sp>
      <p:pic>
        <p:nvPicPr>
          <p:cNvPr id="5" name="Picture 4" descr="seu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713232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79" y="1417320"/>
            <a:ext cx="3017520" cy="18288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0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Seuil choisi : 0,40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Objectif : privilégier la détection des départs potentiels plutôt que la seule exactitude.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À 40 %, on privilégie la détection des départs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11</a:t>
            </a:r>
          </a:p>
        </p:txBody>
      </p:sp>
      <p:pic>
        <p:nvPicPr>
          <p:cNvPr id="5" name="Picture 4" descr="matrice_seu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23" y="1051560"/>
            <a:ext cx="7321677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45552" y="1371599"/>
            <a:ext cx="3971925" cy="200362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8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Le seuil modifie les faux positifs et faux négatifs.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C’est un choix métier : une alerte RH doit être un point de départ pour un échange, jamais une décision automatique.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5320" y="4899638"/>
            <a:ext cx="11155680" cy="341632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23B5D"/>
                </a:solidFill>
                <a:latin typeface="Aptos"/>
              </a:defRPr>
            </a:lvl1pPr>
          </a:lstStyle>
          <a:p>
            <a:r>
              <a:rPr lang="fr-FR" dirty="0"/>
              <a:t>Le seuil 40 % augmente le </a:t>
            </a:r>
            <a:r>
              <a:rPr lang="fr-FR" dirty="0" err="1"/>
              <a:t>recall</a:t>
            </a:r>
            <a:r>
              <a:rPr lang="fr-FR" dirty="0"/>
              <a:t> au prix de la précision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3653" y="783505"/>
            <a:ext cx="3017520" cy="2003625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8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Seuil 40 %</a:t>
            </a:r>
            <a:br>
              <a:rPr lang="fr-FR" noProof="0" dirty="0"/>
            </a:br>
            <a:r>
              <a:rPr lang="fr-FR" noProof="0" dirty="0" err="1"/>
              <a:t>Recall</a:t>
            </a:r>
            <a:r>
              <a:rPr lang="fr-FR" noProof="0" dirty="0"/>
              <a:t> : 0,72</a:t>
            </a:r>
            <a:br>
              <a:rPr lang="fr-FR" noProof="0" dirty="0"/>
            </a:br>
            <a:r>
              <a:rPr lang="fr-FR" noProof="0" dirty="0" err="1"/>
              <a:t>Balanced</a:t>
            </a:r>
            <a:r>
              <a:rPr lang="fr-FR" noProof="0" dirty="0"/>
              <a:t> </a:t>
            </a:r>
            <a:r>
              <a:rPr lang="fr-FR" noProof="0" dirty="0" err="1"/>
              <a:t>accuracy</a:t>
            </a:r>
            <a:r>
              <a:rPr lang="fr-FR" noProof="0" dirty="0"/>
              <a:t> : 0,74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Seuil 50 %</a:t>
            </a:r>
            <a:br>
              <a:rPr lang="fr-FR" noProof="0" dirty="0"/>
            </a:br>
            <a:r>
              <a:rPr lang="fr-FR" noProof="0" dirty="0" err="1"/>
              <a:t>Recall</a:t>
            </a:r>
            <a:r>
              <a:rPr lang="fr-FR" noProof="0" dirty="0"/>
              <a:t> : 0,62</a:t>
            </a:r>
          </a:p>
          <a:p>
            <a:pPr>
              <a:defRPr sz="1800" b="1">
                <a:solidFill>
                  <a:srgbClr val="123B5D"/>
                </a:solidFill>
                <a:latin typeface="Aptos"/>
              </a:defRPr>
            </a:pPr>
            <a:r>
              <a:rPr lang="fr-FR" dirty="0" err="1"/>
              <a:t>Balanced</a:t>
            </a:r>
            <a:r>
              <a:rPr lang="fr-FR" dirty="0"/>
              <a:t> </a:t>
            </a:r>
            <a:r>
              <a:rPr lang="fr-FR" dirty="0" err="1"/>
              <a:t>accuracy</a:t>
            </a:r>
            <a:r>
              <a:rPr lang="fr-FR" dirty="0"/>
              <a:t> : 0,73</a:t>
            </a:r>
            <a:endParaRPr lang="fr-FR" noProof="0" dirty="0"/>
          </a:p>
        </p:txBody>
      </p:sp>
      <p:pic>
        <p:nvPicPr>
          <p:cNvPr id="8" name="Picture 4" descr="matrice_seuil.png">
            <a:extLst>
              <a:ext uri="{FF2B5EF4-FFF2-40B4-BE49-F238E27FC236}">
                <a16:creationId xmlns:a16="http://schemas.microsoft.com/office/drawing/2014/main" id="{7BB2FF72-EF43-2F57-5A8C-B179178BFF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62231" y="3332868"/>
            <a:ext cx="4920615" cy="2821684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DA6EADE1-DFE8-6E35-5F88-D502D1515F69}"/>
              </a:ext>
            </a:extLst>
          </p:cNvPr>
          <p:cNvSpPr txBox="1"/>
          <p:nvPr/>
        </p:nvSpPr>
        <p:spPr>
          <a:xfrm>
            <a:off x="502920" y="299024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À 40 %, on privilégie la détection des départs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64585EC-9A5A-8F6B-FD64-1667339FF4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466022"/>
            <a:ext cx="8011886" cy="49097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Les facteurs de risque sont classés globalement par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10</a:t>
            </a:r>
          </a:p>
        </p:txBody>
      </p:sp>
      <p:pic>
        <p:nvPicPr>
          <p:cNvPr id="5" name="Picture 4" descr="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5394960" cy="5166360"/>
          </a:xfrm>
          <a:prstGeom prst="rect">
            <a:avLst/>
          </a:prstGeom>
        </p:spPr>
      </p:pic>
      <p:pic>
        <p:nvPicPr>
          <p:cNvPr id="6" name="Picture 5" descr="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5394960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89320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1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 err="1"/>
              <a:t>Beeswarm</a:t>
            </a:r>
            <a:r>
              <a:rPr lang="fr-FR" noProof="0" dirty="0"/>
              <a:t> : direction et intensité de l’effet • Barres : importance moyenne absolue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Expliquer un cas individuel : le modèle montre les facteurs qui poussent le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280160"/>
            <a:ext cx="3291840" cy="2651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Vulgarisation</a:t>
            </a:r>
            <a:br>
              <a:rPr lang="fr-FR" noProof="0" dirty="0"/>
            </a:br>
            <a:r>
              <a:rPr lang="fr-FR" noProof="0" dirty="0"/>
              <a:t>Chaque barre indique comment une caractéristique éloigne ou rapproche la prédiction du risque moyen.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Ce n’est pas une causalité : c’est une explication du score du modèle.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8BEBE71-A513-B532-BC19-271D0ACB7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96" y="1102995"/>
            <a:ext cx="3491229" cy="282892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3707B5A-45CF-BB1C-A222-CC2F4F0A7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557" y="1100161"/>
            <a:ext cx="3394454" cy="280586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7E2B7C2-8B81-5FC1-CBED-D9FED7093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6" y="3889646"/>
            <a:ext cx="3557761" cy="267574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50232AD-8DD1-368B-7BCC-7CB05B1B1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5558" y="3931920"/>
            <a:ext cx="3394454" cy="265315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2DFF526-AFE1-670C-8B1B-EA10D38886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1888" y="4809449"/>
            <a:ext cx="4124912" cy="1311846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19AA43E3-D302-130F-1526-33F572DA7673}"/>
              </a:ext>
            </a:extLst>
          </p:cNvPr>
          <p:cNvSpPr txBox="1"/>
          <p:nvPr/>
        </p:nvSpPr>
        <p:spPr>
          <a:xfrm>
            <a:off x="8001000" y="4343400"/>
            <a:ext cx="3052917" cy="557076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>
            <a:defPPr>
              <a:defRPr lang="en-US"/>
            </a:defPPr>
            <a:lvl1pPr>
              <a:defRPr sz="1600" b="0">
                <a:solidFill>
                  <a:srgbClr val="23303A"/>
                </a:solidFill>
                <a:latin typeface="Aptos"/>
              </a:defRPr>
            </a:lvl1pPr>
          </a:lstStyle>
          <a:p>
            <a:r>
              <a:rPr lang="fr-FR" dirty="0"/>
              <a:t>Exemple de validation de réparation pour le type de poste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3E065213-A4F7-7248-F90A-28C3680D6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102641"/>
              </p:ext>
            </p:extLst>
          </p:nvPr>
        </p:nvGraphicFramePr>
        <p:xfrm>
          <a:off x="476606" y="408825"/>
          <a:ext cx="11506389" cy="616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1691">
                  <a:extLst>
                    <a:ext uri="{9D8B030D-6E8A-4147-A177-3AD203B41FA5}">
                      <a16:colId xmlns:a16="http://schemas.microsoft.com/office/drawing/2014/main" val="121041232"/>
                    </a:ext>
                  </a:extLst>
                </a:gridCol>
                <a:gridCol w="4702629">
                  <a:extLst>
                    <a:ext uri="{9D8B030D-6E8A-4147-A177-3AD203B41FA5}">
                      <a16:colId xmlns:a16="http://schemas.microsoft.com/office/drawing/2014/main" val="3241010274"/>
                    </a:ext>
                  </a:extLst>
                </a:gridCol>
                <a:gridCol w="4032069">
                  <a:extLst>
                    <a:ext uri="{9D8B030D-6E8A-4147-A177-3AD203B41FA5}">
                      <a16:colId xmlns:a16="http://schemas.microsoft.com/office/drawing/2014/main" val="1924597903"/>
                    </a:ext>
                  </a:extLst>
                </a:gridCol>
              </a:tblGrid>
              <a:tr h="656125">
                <a:tc>
                  <a:txBody>
                    <a:bodyPr/>
                    <a:lstStyle/>
                    <a:p>
                      <a:r>
                        <a:rPr lang="fr-FR" dirty="0"/>
                        <a:t>Marqueurs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stats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173923"/>
                  </a:ext>
                </a:extLst>
              </a:tr>
              <a:tr h="656125">
                <a:tc>
                  <a:txBody>
                    <a:bodyPr/>
                    <a:lstStyle/>
                    <a:p>
                      <a:r>
                        <a:rPr lang="fr-FR" dirty="0"/>
                        <a:t>Heures supplémentaires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+ d’heures supplémentaire = + de départ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54 % des départ faisait des heures supplémentaires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164372"/>
                  </a:ext>
                </a:extLst>
              </a:tr>
              <a:tr h="656125">
                <a:tc>
                  <a:txBody>
                    <a:bodyPr/>
                    <a:lstStyle/>
                    <a:p>
                      <a:r>
                        <a:rPr lang="fr-FR" dirty="0"/>
                        <a:t>Participation PEE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+ de participation = - de départ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65 % des départ on 0 participation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556458"/>
                  </a:ext>
                </a:extLst>
              </a:tr>
              <a:tr h="656125">
                <a:tc>
                  <a:txBody>
                    <a:bodyPr/>
                    <a:lstStyle/>
                    <a:p>
                      <a:r>
                        <a:rPr lang="fr-FR" dirty="0"/>
                        <a:t>Revenu mensuel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 De revenu = + de départ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4204 en moyenne pour les départs</a:t>
                      </a:r>
                    </a:p>
                    <a:p>
                      <a:pPr algn="ctr"/>
                      <a:r>
                        <a:rPr lang="fr-FR" dirty="0"/>
                        <a:t>6007 en moyenne pour ceux qui reste</a:t>
                      </a:r>
                    </a:p>
                    <a:p>
                      <a:pPr algn="ctr"/>
                      <a:r>
                        <a:rPr lang="fr-FR" dirty="0"/>
                        <a:t>(Hors gros salaire 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349582"/>
                  </a:ext>
                </a:extLst>
              </a:tr>
              <a:tr h="656125">
                <a:tc>
                  <a:txBody>
                    <a:bodyPr/>
                    <a:lstStyle/>
                    <a:p>
                      <a:r>
                        <a:rPr lang="fr-FR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 Agé = + de départ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En moyenne 32 pour les départs</a:t>
                      </a:r>
                    </a:p>
                    <a:p>
                      <a:pPr algn="ctr"/>
                      <a:r>
                        <a:rPr lang="fr-FR" dirty="0"/>
                        <a:t>En moyenne 37 pour ceux qui reste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04441"/>
                  </a:ext>
                </a:extLst>
              </a:tr>
              <a:tr h="656125">
                <a:tc>
                  <a:txBody>
                    <a:bodyPr/>
                    <a:lstStyle/>
                    <a:p>
                      <a:r>
                        <a:rPr lang="fr-FR" dirty="0"/>
                        <a:t>Ancienneté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 d’ancienneté = + de départ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En moyenne 4,9 pour les départs </a:t>
                      </a:r>
                    </a:p>
                    <a:p>
                      <a:pPr algn="ctr"/>
                      <a:r>
                        <a:rPr lang="fr-FR" dirty="0"/>
                        <a:t>En Moyenne 7,4 pour ceux qui reste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737586"/>
                  </a:ext>
                </a:extLst>
              </a:tr>
              <a:tr h="656125">
                <a:tc>
                  <a:txBody>
                    <a:bodyPr/>
                    <a:lstStyle/>
                    <a:p>
                      <a:r>
                        <a:rPr lang="fr-FR" dirty="0"/>
                        <a:t>Distance domicile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+ éloigné = + de départ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En moyenne 11 pour les départs </a:t>
                      </a:r>
                    </a:p>
                    <a:p>
                      <a:pPr algn="ctr"/>
                      <a:r>
                        <a:rPr lang="fr-FR" dirty="0"/>
                        <a:t>En moyenne 8 pour ceux qui reste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883497"/>
                  </a:ext>
                </a:extLst>
              </a:tr>
              <a:tr h="656125">
                <a:tc>
                  <a:txBody>
                    <a:bodyPr/>
                    <a:lstStyle/>
                    <a:p>
                      <a:r>
                        <a:rPr lang="fr-FR" dirty="0"/>
                        <a:t>L’environnement de travail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157275"/>
                  </a:ext>
                </a:extLst>
              </a:tr>
              <a:tr h="656125">
                <a:tc>
                  <a:txBody>
                    <a:bodyPr/>
                    <a:lstStyle/>
                    <a:p>
                      <a:r>
                        <a:rPr lang="fr-FR" dirty="0"/>
                        <a:t>Le département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Le département consulting à moins de départ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33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97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Des prédictions utiles seulement si elles déclenchent des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5B6C77"/>
                </a:solidFill>
                <a:latin typeface="Aptos"/>
              </a:defRPr>
            </a:pPr>
            <a:r>
              <a:rPr lang="fr-FR" noProof="0" dirty="0"/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2834640"/>
          </a:xfrm>
          <a:prstGeom prst="roundRect">
            <a:avLst/>
          </a:prstGeom>
          <a:solidFill>
            <a:srgbClr val="EBF2F4"/>
          </a:solidFill>
          <a:ln>
            <a:solidFill>
              <a:srgbClr val="123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2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Écouter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743200" cy="12344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Proposer un échange confidentiel aux profils signalés, sans automatiser la décision.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246120" cy="2834640"/>
          </a:xfrm>
          <a:prstGeom prst="roundRect">
            <a:avLst/>
          </a:prstGeom>
          <a:solidFill>
            <a:srgbClr val="EBF2F4"/>
          </a:solidFill>
          <a:ln>
            <a:solidFill>
              <a:srgbClr val="6DB7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2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Agir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468880"/>
            <a:ext cx="2743200" cy="12344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Cibler satisfaction, mobilité, reconnaissance et équité salariale selon le contexte.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246120" cy="2834640"/>
          </a:xfrm>
          <a:prstGeom prst="roundRect">
            <a:avLst/>
          </a:prstGeom>
          <a:solidFill>
            <a:srgbClr val="EBF2F4"/>
          </a:solidFill>
          <a:ln>
            <a:solidFill>
              <a:srgbClr val="F28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503920" y="1737360"/>
            <a:ext cx="274320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2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Mesurer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468880"/>
            <a:ext cx="2743200" cy="12344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1600" b="0">
                <a:solidFill>
                  <a:srgbClr val="23303A"/>
                </a:solidFill>
                <a:latin typeface="Aptos"/>
              </a:defRPr>
            </a:pPr>
            <a:r>
              <a:rPr lang="fr-FR" noProof="0" dirty="0"/>
              <a:t>Suivre </a:t>
            </a:r>
            <a:r>
              <a:rPr lang="fr-FR" noProof="0" dirty="0" err="1"/>
              <a:t>recall</a:t>
            </a:r>
            <a:r>
              <a:rPr lang="fr-FR" noProof="0" dirty="0"/>
              <a:t>, précision, faux positifs et impact des actions dans le temps.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106070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800" b="1">
                <a:solidFill>
                  <a:srgbClr val="123B5D"/>
                </a:solidFill>
                <a:latin typeface="Aptos"/>
              </a:defRPr>
            </a:pPr>
            <a:r>
              <a:rPr lang="fr-FR" noProof="0" dirty="0"/>
              <a:t>Gouvernance : contrôler les biais, protéger la confidentialité et réévaluer le modèle lorsque les pratiques RH évolue.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rPr lang="fr-FR" noProof="0" dirty="0"/>
              <a:t>Conclusion : détecter tôt, expliquer clairement, agir humainement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473952"/>
            <a:ext cx="731520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defRPr sz="900" b="0">
                <a:solidFill>
                  <a:srgbClr val="B4C8D2"/>
                </a:solidFill>
                <a:latin typeface="Aptos"/>
              </a:defRPr>
            </a:pPr>
            <a:r>
              <a:rPr lang="fr-FR" noProof="0" dirty="0"/>
              <a:t>Projet attrition des employés • Analyse et modélisation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55664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r">
              <a:defRPr sz="900" b="1">
                <a:solidFill>
                  <a:srgbClr val="B4C8D2"/>
                </a:solidFill>
                <a:latin typeface="Aptos"/>
              </a:defRPr>
            </a:pPr>
            <a:r>
              <a:rPr lang="fr-FR" noProof="0" dirty="0"/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rPr lang="fr-FR" noProof="0" dirty="0"/>
              <a:t>Une chaîne complète, de la donnée à la 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9875520" cy="10972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2200" b="1">
                <a:solidFill>
                  <a:srgbClr val="CDE1E8"/>
                </a:solidFill>
                <a:latin typeface="Aptos"/>
              </a:defRPr>
            </a:pPr>
            <a:r>
              <a:rPr lang="fr-FR" noProof="0" dirty="0"/>
              <a:t>3 sources rapprochées  →  données préparées  →  modèle évalué  →  facteurs expliqués  →  actions RH mesurées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412480" cy="618631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defRPr sz="1800" b="1">
                <a:solidFill>
                  <a:srgbClr val="F28E6B"/>
                </a:solidFill>
                <a:latin typeface="Aptos"/>
              </a:defRPr>
            </a:pPr>
            <a:r>
              <a:rPr lang="fr-FR" noProof="0" dirty="0"/>
              <a:t>Le modèle aide à prioriser les conversations : il ne remplace ni le jugement ni l’écoute.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972</Words>
  <Application>Microsoft Office PowerPoint</Application>
  <PresentationFormat>Grand écran</PresentationFormat>
  <Paragraphs>137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BLASCO Jérémy</cp:lastModifiedBy>
  <cp:revision>13</cp:revision>
  <dcterms:created xsi:type="dcterms:W3CDTF">2013-01-27T09:14:16Z</dcterms:created>
  <dcterms:modified xsi:type="dcterms:W3CDTF">2026-09-11T18:22:33Z</dcterms:modified>
  <cp:category/>
</cp:coreProperties>
</file>